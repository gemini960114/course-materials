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Poppins Ultra-Bold" charset="1" panose="00000900000000000000"/>
      <p:regular r:id="rId13"/>
    </p:embeddedFont>
    <p:embeddedFont>
      <p:font typeface="Canva Sans Bold" charset="1" panose="020B0803030501040103"/>
      <p:regular r:id="rId14"/>
    </p:embeddedFont>
    <p:embeddedFont>
      <p:font typeface="Poppins Italics" charset="1" panose="00000500000000000000"/>
      <p:regular r:id="rId15"/>
    </p:embeddedFont>
    <p:embeddedFont>
      <p:font typeface="Canva Sans" charset="1" panose="020B05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4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7094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0828" y="-1093697"/>
            <a:ext cx="735744" cy="4337303"/>
            <a:chOff x="0" y="0"/>
            <a:chExt cx="220184" cy="12980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184" cy="1298014"/>
            </a:xfrm>
            <a:custGeom>
              <a:avLst/>
              <a:gdLst/>
              <a:ahLst/>
              <a:cxnLst/>
              <a:rect r="r" b="b" t="t" l="l"/>
              <a:pathLst>
                <a:path h="1298014" w="220184">
                  <a:moveTo>
                    <a:pt x="0" y="0"/>
                  </a:moveTo>
                  <a:lnTo>
                    <a:pt x="220184" y="0"/>
                  </a:lnTo>
                  <a:lnTo>
                    <a:pt x="220184" y="1298014"/>
                  </a:lnTo>
                  <a:lnTo>
                    <a:pt x="0" y="1298014"/>
                  </a:ln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184" cy="1336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46136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28645" y="277804"/>
            <a:ext cx="9589789" cy="1594302"/>
          </a:xfrm>
          <a:custGeom>
            <a:avLst/>
            <a:gdLst/>
            <a:ahLst/>
            <a:cxnLst/>
            <a:rect r="r" b="b" t="t" l="l"/>
            <a:pathLst>
              <a:path h="1594302" w="9589789">
                <a:moveTo>
                  <a:pt x="0" y="0"/>
                </a:moveTo>
                <a:lnTo>
                  <a:pt x="9589789" y="0"/>
                </a:lnTo>
                <a:lnTo>
                  <a:pt x="9589789" y="1594302"/>
                </a:lnTo>
                <a:lnTo>
                  <a:pt x="0" y="1594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80186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8415" y="4659969"/>
            <a:ext cx="9110393" cy="806827"/>
            <a:chOff x="0" y="0"/>
            <a:chExt cx="2399445" cy="212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399445" cy="298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AFAF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Hands-On Introduction With Huggingface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8415" y="2139780"/>
            <a:ext cx="10704282" cy="223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b="true" sz="8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GENOMIC LLMS IN PRACTICE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8415" y="8594678"/>
            <a:ext cx="1449718" cy="1449718"/>
          </a:xfrm>
          <a:custGeom>
            <a:avLst/>
            <a:gdLst/>
            <a:ahLst/>
            <a:cxnLst/>
            <a:rect r="r" b="b" t="t" l="l"/>
            <a:pathLst>
              <a:path h="1449718" w="1449718">
                <a:moveTo>
                  <a:pt x="0" y="0"/>
                </a:moveTo>
                <a:lnTo>
                  <a:pt x="1449718" y="0"/>
                </a:lnTo>
                <a:lnTo>
                  <a:pt x="1449718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67816" y="8594678"/>
            <a:ext cx="4232755" cy="1449718"/>
          </a:xfrm>
          <a:custGeom>
            <a:avLst/>
            <a:gdLst/>
            <a:ahLst/>
            <a:cxnLst/>
            <a:rect r="r" b="b" t="t" l="l"/>
            <a:pathLst>
              <a:path h="1449718" w="4232755">
                <a:moveTo>
                  <a:pt x="0" y="0"/>
                </a:moveTo>
                <a:lnTo>
                  <a:pt x="4232755" y="0"/>
                </a:lnTo>
                <a:lnTo>
                  <a:pt x="4232755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8415" y="7340176"/>
            <a:ext cx="9110393" cy="878560"/>
            <a:chOff x="0" y="0"/>
            <a:chExt cx="2399445" cy="2313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99445" cy="231390"/>
            </a:xfrm>
            <a:custGeom>
              <a:avLst/>
              <a:gdLst/>
              <a:ahLst/>
              <a:cxnLst/>
              <a:rect r="r" b="b" t="t" l="l"/>
              <a:pathLst>
                <a:path h="231390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88901"/>
                  </a:lnTo>
                  <a:cubicBezTo>
                    <a:pt x="2399445" y="212367"/>
                    <a:pt x="2380422" y="231390"/>
                    <a:pt x="2356956" y="231390"/>
                  </a:cubicBezTo>
                  <a:lnTo>
                    <a:pt x="42489" y="231390"/>
                  </a:lnTo>
                  <a:cubicBezTo>
                    <a:pt x="19023" y="231390"/>
                    <a:pt x="0" y="212367"/>
                    <a:pt x="0" y="188901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399445" cy="288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by Megha Hegde, Shashank Ravichandran, Jean-Christophe Nebel, Ragothaman Yennamalli, Farzana Rahman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8415" y="5756616"/>
            <a:ext cx="9110393" cy="1293741"/>
            <a:chOff x="0" y="0"/>
            <a:chExt cx="2399445" cy="3407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99445" cy="340738"/>
            </a:xfrm>
            <a:custGeom>
              <a:avLst/>
              <a:gdLst/>
              <a:ahLst/>
              <a:cxnLst/>
              <a:rect r="r" b="b" t="t" l="l"/>
              <a:pathLst>
                <a:path h="34073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298249"/>
                  </a:lnTo>
                  <a:cubicBezTo>
                    <a:pt x="2399445" y="321715"/>
                    <a:pt x="2380422" y="340738"/>
                    <a:pt x="2356956" y="340738"/>
                  </a:cubicBezTo>
                  <a:lnTo>
                    <a:pt x="42489" y="340738"/>
                  </a:lnTo>
                  <a:cubicBezTo>
                    <a:pt x="19023" y="340738"/>
                    <a:pt x="0" y="321715"/>
                    <a:pt x="0" y="298249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399445" cy="426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Lecture 2: Training Genomic LLMs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09998" y="3092560"/>
            <a:ext cx="3096276" cy="1566056"/>
            <a:chOff x="0" y="0"/>
            <a:chExt cx="1015495" cy="513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Untrained LLM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33980" y="3092560"/>
            <a:ext cx="3096276" cy="1566056"/>
            <a:chOff x="0" y="0"/>
            <a:chExt cx="1015495" cy="513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147144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771126" y="3875588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607686" y="1836354"/>
            <a:ext cx="8580909" cy="866572"/>
            <a:chOff x="0" y="0"/>
            <a:chExt cx="2259992" cy="228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1: Pretraining (self-supervised)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07686" y="6088449"/>
            <a:ext cx="8580909" cy="866572"/>
            <a:chOff x="0" y="0"/>
            <a:chExt cx="2259992" cy="228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9992" cy="228233"/>
            </a:xfrm>
            <a:custGeom>
              <a:avLst/>
              <a:gdLst/>
              <a:ahLst/>
              <a:cxnLst/>
              <a:rect r="r" b="b" t="t" l="l"/>
              <a:pathLst>
                <a:path h="228233" w="2259992">
                  <a:moveTo>
                    <a:pt x="45111" y="0"/>
                  </a:moveTo>
                  <a:lnTo>
                    <a:pt x="2214881" y="0"/>
                  </a:lnTo>
                  <a:cubicBezTo>
                    <a:pt x="2226845" y="0"/>
                    <a:pt x="2238320" y="4753"/>
                    <a:pt x="2246780" y="13213"/>
                  </a:cubicBezTo>
                  <a:cubicBezTo>
                    <a:pt x="2255240" y="21673"/>
                    <a:pt x="2259992" y="33147"/>
                    <a:pt x="2259992" y="45111"/>
                  </a:cubicBezTo>
                  <a:lnTo>
                    <a:pt x="2259992" y="183122"/>
                  </a:lnTo>
                  <a:cubicBezTo>
                    <a:pt x="2259992" y="195086"/>
                    <a:pt x="2255240" y="206560"/>
                    <a:pt x="2246780" y="215020"/>
                  </a:cubicBezTo>
                  <a:cubicBezTo>
                    <a:pt x="2238320" y="223480"/>
                    <a:pt x="2226845" y="228233"/>
                    <a:pt x="2214881" y="228233"/>
                  </a:cubicBezTo>
                  <a:lnTo>
                    <a:pt x="45111" y="228233"/>
                  </a:lnTo>
                  <a:cubicBezTo>
                    <a:pt x="33147" y="228233"/>
                    <a:pt x="21673" y="223480"/>
                    <a:pt x="13213" y="215020"/>
                  </a:cubicBezTo>
                  <a:cubicBezTo>
                    <a:pt x="4753" y="206560"/>
                    <a:pt x="0" y="195086"/>
                    <a:pt x="0" y="183122"/>
                  </a:cubicBezTo>
                  <a:lnTo>
                    <a:pt x="0" y="45111"/>
                  </a:lnTo>
                  <a:cubicBezTo>
                    <a:pt x="0" y="33147"/>
                    <a:pt x="4753" y="21673"/>
                    <a:pt x="13213" y="13213"/>
                  </a:cubicBezTo>
                  <a:cubicBezTo>
                    <a:pt x="21673" y="4753"/>
                    <a:pt x="33147" y="0"/>
                    <a:pt x="45111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259992" cy="29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2: Fine-tuning (supervised)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42425" y="7588361"/>
            <a:ext cx="3096276" cy="1566056"/>
            <a:chOff x="0" y="0"/>
            <a:chExt cx="1015495" cy="5136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Pretrained LLM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2197890" y="7105515"/>
          <a:ext cx="3261684" cy="2190826"/>
        </p:xfrm>
        <a:graphic>
          <a:graphicData uri="http://schemas.openxmlformats.org/drawingml/2006/table">
            <a:tbl>
              <a:tblPr/>
              <a:tblGrid>
                <a:gridCol w="2289040"/>
                <a:gridCol w="972645"/>
              </a:tblGrid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Sequence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</a:tr>
              <a:tr h="7367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ACTGACTGACTGACTG</a:t>
                      </a: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7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ACTGACTGCCTGACTG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25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1028700" y="568434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HOW DOES GLLM TRAINING WORK?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82074" y="3007242"/>
            <a:ext cx="3300218" cy="1736692"/>
            <a:chOff x="0" y="0"/>
            <a:chExt cx="4400291" cy="231558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40980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19633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9828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897336"/>
              <a:ext cx="440029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ACTGACTGACTGACTG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544791" y="4905859"/>
            <a:ext cx="3374783" cy="10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Large corpus of unlabelled genomic sequences</a:t>
            </a:r>
          </a:p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e.g., DNA sequences from the Human Reference Genome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32072" y="9302055"/>
            <a:ext cx="4381527" cy="5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  <a:spcBef>
                <a:spcPct val="0"/>
              </a:spcBef>
            </a:pPr>
            <a:r>
              <a:rPr lang="en-US" sz="1525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Task-specific data and labels, e.g., variant sequence and pathogenicity label</a:t>
            </a:r>
          </a:p>
        </p:txBody>
      </p:sp>
      <p:sp>
        <p:nvSpPr>
          <p:cNvPr name="AutoShape 31" id="31"/>
          <p:cNvSpPr/>
          <p:nvPr/>
        </p:nvSpPr>
        <p:spPr>
          <a:xfrm>
            <a:off x="6147144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1035979" y="8371389"/>
            <a:ext cx="99800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2483210" y="7588361"/>
            <a:ext cx="3096276" cy="1566056"/>
            <a:chOff x="0" y="0"/>
            <a:chExt cx="1015495" cy="5136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5495" cy="513624"/>
            </a:xfrm>
            <a:custGeom>
              <a:avLst/>
              <a:gdLst/>
              <a:ahLst/>
              <a:cxnLst/>
              <a:rect r="r" b="b" t="t" l="l"/>
              <a:pathLst>
                <a:path h="513624" w="1015495">
                  <a:moveTo>
                    <a:pt x="127520" y="0"/>
                  </a:moveTo>
                  <a:lnTo>
                    <a:pt x="887975" y="0"/>
                  </a:lnTo>
                  <a:cubicBezTo>
                    <a:pt x="921795" y="0"/>
                    <a:pt x="954230" y="13435"/>
                    <a:pt x="978145" y="37350"/>
                  </a:cubicBezTo>
                  <a:cubicBezTo>
                    <a:pt x="1002060" y="61265"/>
                    <a:pt x="1015495" y="93700"/>
                    <a:pt x="1015495" y="127520"/>
                  </a:cubicBezTo>
                  <a:lnTo>
                    <a:pt x="1015495" y="386104"/>
                  </a:lnTo>
                  <a:cubicBezTo>
                    <a:pt x="1015495" y="419924"/>
                    <a:pt x="1002060" y="452360"/>
                    <a:pt x="978145" y="476274"/>
                  </a:cubicBezTo>
                  <a:cubicBezTo>
                    <a:pt x="954230" y="500189"/>
                    <a:pt x="921795" y="513624"/>
                    <a:pt x="887975" y="513624"/>
                  </a:cubicBezTo>
                  <a:lnTo>
                    <a:pt x="127520" y="513624"/>
                  </a:lnTo>
                  <a:cubicBezTo>
                    <a:pt x="93700" y="513624"/>
                    <a:pt x="61265" y="500189"/>
                    <a:pt x="37350" y="476274"/>
                  </a:cubicBezTo>
                  <a:cubicBezTo>
                    <a:pt x="13435" y="452360"/>
                    <a:pt x="0" y="419924"/>
                    <a:pt x="0" y="386104"/>
                  </a:cubicBezTo>
                  <a:lnTo>
                    <a:pt x="0" y="127520"/>
                  </a:lnTo>
                  <a:cubicBezTo>
                    <a:pt x="0" y="93700"/>
                    <a:pt x="13435" y="61265"/>
                    <a:pt x="37350" y="37350"/>
                  </a:cubicBezTo>
                  <a:cubicBezTo>
                    <a:pt x="61265" y="13435"/>
                    <a:pt x="93700" y="0"/>
                    <a:pt x="127520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15495" cy="570774"/>
            </a:xfrm>
            <a:prstGeom prst="rect">
              <a:avLst/>
            </a:prstGeom>
          </p:spPr>
          <p:txBody>
            <a:bodyPr anchor="ctr" rtlCol="false" tIns="40794" lIns="40794" bIns="40794" rIns="40794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Fine-tuned LLM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4067" y="1335374"/>
            <a:ext cx="16610635" cy="4360576"/>
            <a:chOff x="0" y="0"/>
            <a:chExt cx="22147513" cy="581410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699301"/>
              <a:ext cx="22147513" cy="4114800"/>
              <a:chOff x="0" y="0"/>
              <a:chExt cx="4374817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37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789030"/>
                    </a:lnTo>
                    <a:cubicBezTo>
                      <a:pt x="4374817" y="795334"/>
                      <a:pt x="4372313" y="801380"/>
                      <a:pt x="4367855" y="805838"/>
                    </a:cubicBezTo>
                    <a:cubicBezTo>
                      <a:pt x="4363398" y="810296"/>
                      <a:pt x="4357351" y="812800"/>
                      <a:pt x="4351047" y="812800"/>
                    </a:cubicBezTo>
                    <a:lnTo>
                      <a:pt x="23770" y="812800"/>
                    </a:lnTo>
                    <a:cubicBezTo>
                      <a:pt x="17466" y="812800"/>
                      <a:pt x="11420" y="810296"/>
                      <a:pt x="6962" y="805838"/>
                    </a:cubicBezTo>
                    <a:cubicBezTo>
                      <a:pt x="2504" y="801380"/>
                      <a:pt x="0" y="795334"/>
                      <a:pt x="0" y="789030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solidFill>
                <a:srgbClr val="EFFF3F"/>
              </a:solidFill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374817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937196" y="4010283"/>
              <a:ext cx="9056688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</a:t>
              </a:r>
              <a:r>
                <a:rPr lang="en-US" b="true" sz="3199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&lt;[MASK]&gt;</a:t>
              </a: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&lt;ACTG&gt;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390924" y="2823680"/>
              <a:ext cx="8149233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291E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this token based on the tokens on either side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6937967" y="3241933"/>
              <a:ext cx="527480" cy="825500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192844" y="-180975"/>
              <a:ext cx="10971695" cy="5498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>
                <a:lnSpc>
                  <a:spcPts val="4132"/>
                </a:lnSpc>
              </a:pPr>
            </a:p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258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Masked Language Modelling (MLM)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Some % of tokens in each DNA sequence are masked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missing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encoder-only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gLLM examples: DNABERT-2, Nucleotide Transformer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67" y="6134100"/>
            <a:ext cx="16610635" cy="3086100"/>
            <a:chOff x="0" y="0"/>
            <a:chExt cx="22147513" cy="4114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2147513" cy="4114800"/>
              <a:chOff x="0" y="0"/>
              <a:chExt cx="4374817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37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74817">
                    <a:moveTo>
                      <a:pt x="23770" y="0"/>
                    </a:moveTo>
                    <a:lnTo>
                      <a:pt x="4351047" y="0"/>
                    </a:lnTo>
                    <a:cubicBezTo>
                      <a:pt x="4357351" y="0"/>
                      <a:pt x="4363398" y="2504"/>
                      <a:pt x="4367855" y="6962"/>
                    </a:cubicBezTo>
                    <a:cubicBezTo>
                      <a:pt x="4372313" y="11420"/>
                      <a:pt x="4374817" y="17466"/>
                      <a:pt x="4374817" y="23770"/>
                    </a:cubicBezTo>
                    <a:lnTo>
                      <a:pt x="4374817" y="789030"/>
                    </a:lnTo>
                    <a:cubicBezTo>
                      <a:pt x="4374817" y="795334"/>
                      <a:pt x="4372313" y="801380"/>
                      <a:pt x="4367855" y="805838"/>
                    </a:cubicBezTo>
                    <a:cubicBezTo>
                      <a:pt x="4363398" y="810296"/>
                      <a:pt x="4357351" y="812800"/>
                      <a:pt x="4351047" y="812800"/>
                    </a:cubicBezTo>
                    <a:lnTo>
                      <a:pt x="23770" y="812800"/>
                    </a:lnTo>
                    <a:cubicBezTo>
                      <a:pt x="17466" y="812800"/>
                      <a:pt x="11420" y="810296"/>
                      <a:pt x="6962" y="805838"/>
                    </a:cubicBezTo>
                    <a:cubicBezTo>
                      <a:pt x="2504" y="801380"/>
                      <a:pt x="0" y="795334"/>
                      <a:pt x="0" y="789030"/>
                    </a:cubicBezTo>
                    <a:lnTo>
                      <a:pt x="0" y="23770"/>
                    </a:lnTo>
                    <a:cubicBezTo>
                      <a:pt x="0" y="17466"/>
                      <a:pt x="2504" y="11420"/>
                      <a:pt x="6962" y="6962"/>
                    </a:cubicBezTo>
                    <a:cubicBezTo>
                      <a:pt x="11420" y="2504"/>
                      <a:pt x="17466" y="0"/>
                      <a:pt x="23770" y="0"/>
                    </a:cubicBezTo>
                    <a:close/>
                  </a:path>
                </a:pathLst>
              </a:custGeom>
              <a:ln w="38100" cap="rnd">
                <a:solidFill>
                  <a:srgbClr val="025841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374817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325042" y="823453"/>
              <a:ext cx="828099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i="true">
                  <a:solidFill>
                    <a:srgbClr val="00291E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Predict the next token based on the preceding tokens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9152880" y="1294516"/>
              <a:ext cx="527480" cy="751944"/>
            </a:xfrm>
            <a:prstGeom prst="line">
              <a:avLst/>
            </a:prstGeom>
            <a:ln cap="flat" w="38100">
              <a:solidFill>
                <a:srgbClr val="02584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12793653" y="2003897"/>
              <a:ext cx="7343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2584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&lt;ACTG&gt; &lt;ACTG&gt; &lt;ACTG&gt; </a:t>
              </a:r>
              <a:r>
                <a:rPr lang="en-US" b="true" sz="3199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...?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2844" y="145342"/>
              <a:ext cx="10971695" cy="3399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6066" indent="-223033" lvl="1">
                <a:lnSpc>
                  <a:spcPts val="4132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258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 Token Prediction (NTP)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The model is trained to predict the next token based on the previous tokens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Usually used in decoder-only Transformers</a:t>
              </a:r>
            </a:p>
            <a:p>
              <a:pPr algn="l" marL="892132" indent="-297377" lvl="2">
                <a:lnSpc>
                  <a:spcPts val="4132"/>
                </a:lnSpc>
                <a:buFont typeface="Arial"/>
                <a:buChar char="⚬"/>
              </a:pPr>
              <a:r>
                <a:rPr lang="en-US" sz="2066">
                  <a:solidFill>
                    <a:srgbClr val="025841"/>
                  </a:solidFill>
                  <a:latin typeface="Poppins"/>
                  <a:ea typeface="Poppins"/>
                  <a:cs typeface="Poppins"/>
                  <a:sym typeface="Poppins"/>
                </a:rPr>
                <a:t>Not commonly used for gLLMs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692176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LLM PRETRAINING PARADIGMS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067" y="1715970"/>
            <a:ext cx="1661063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066" indent="-223033" lvl="1">
              <a:lnSpc>
                <a:spcPts val="4132"/>
              </a:lnSpc>
              <a:buFont typeface="Arial"/>
              <a:buChar char="•"/>
            </a:pPr>
            <a:r>
              <a:rPr lang="en-US" sz="2066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During pretraining, the model learns foundational contextual information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79843" y="4981575"/>
            <a:ext cx="1563624" cy="4114800"/>
          </a:xfrm>
          <a:custGeom>
            <a:avLst/>
            <a:gdLst/>
            <a:ahLst/>
            <a:cxnLst/>
            <a:rect r="r" b="b" t="t" l="l"/>
            <a:pathLst>
              <a:path h="4114800" w="1563624">
                <a:moveTo>
                  <a:pt x="0" y="0"/>
                </a:moveTo>
                <a:lnTo>
                  <a:pt x="1563624" y="0"/>
                </a:lnTo>
                <a:lnTo>
                  <a:pt x="1563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33400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WHY MLM FOR GLLMS?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179" y="1219835"/>
            <a:ext cx="16230600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Incorporates bidirectional context</a:t>
            </a:r>
          </a:p>
          <a:p>
            <a:pPr algn="l">
              <a:lnSpc>
                <a:spcPts val="4000"/>
              </a:lnSpc>
            </a:pP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Best for learning patterns and syntax among genomic sequences</a:t>
            </a:r>
          </a:p>
          <a:p>
            <a:pPr algn="l">
              <a:lnSpc>
                <a:spcPts val="4000"/>
              </a:lnSpc>
            </a:pP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Allows the model to identify genomic motifs and signals depending on both upstream and downstream context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58275"/>
            <a:ext cx="810677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Hegde, M.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Bioinformatics and Biology Insights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Shu, L.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 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(2026)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Briefings in Bioinformatics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Dalla-Torre, H.,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et al.</a:t>
            </a:r>
            <a:r>
              <a:rPr lang="en-US" sz="1899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 (2025) </a:t>
            </a:r>
            <a:r>
              <a:rPr lang="en-US" sz="1899" i="true">
                <a:solidFill>
                  <a:srgbClr val="02584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Nature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08782"/>
            <a:ext cx="15309895" cy="82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9"/>
              </a:lnSpc>
            </a:pPr>
            <a:r>
              <a:rPr lang="en-US" b="true" sz="5999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PRETRAINING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95217"/>
            <a:ext cx="16230600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Single species genome</a:t>
            </a:r>
          </a:p>
          <a:p>
            <a:pPr algn="l" marL="863601" indent="-287867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E.g., Human reference genome (current assembly GRCh38)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Multi-species genomes</a:t>
            </a:r>
          </a:p>
          <a:p>
            <a:pPr algn="l" marL="863601" indent="-287867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Large corpus of sequences from the genomes of different species</a:t>
            </a:r>
          </a:p>
          <a:p>
            <a:pPr algn="l" marL="863601" indent="-287867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Can improve the model’s ability to generalise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324135" y="1828800"/>
          <a:ext cx="11293894" cy="3314700"/>
        </p:xfrm>
        <a:graphic>
          <a:graphicData uri="http://schemas.openxmlformats.org/drawingml/2006/table">
            <a:tbl>
              <a:tblPr/>
              <a:tblGrid>
                <a:gridCol w="5646947"/>
                <a:gridCol w="5646947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Fine-tuning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41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Self-supervised, using unlabelled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Supervised, using labelled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Task-specific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Whole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29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Specific layers, e.g., classification 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29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705803"/>
            <a:ext cx="1588476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b="true" sz="6000">
                <a:solidFill>
                  <a:srgbClr val="02584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FINE-TUNING GLLMS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25841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2189" y="5610707"/>
            <a:ext cx="14717789" cy="401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Pretrained gLLMs are fine-tuned on labelled data for specific tasks</a:t>
            </a:r>
          </a:p>
          <a:p>
            <a:pPr algn="l">
              <a:lnSpc>
                <a:spcPts val="4000"/>
              </a:lnSpc>
            </a:pP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For variant effect prediction, this could involve a wild-type sequence, mutated sequence, and pathogenicity label for each variant</a:t>
            </a:r>
          </a:p>
          <a:p>
            <a:pPr algn="l">
              <a:lnSpc>
                <a:spcPts val="4000"/>
              </a:lnSpc>
            </a:pP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This can be a computationally costly process</a:t>
            </a:r>
          </a:p>
          <a:p>
            <a:pPr algn="l" marL="431801" indent="-215900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Methods like LoRA (low-rank adaptation) can help to improve efficiency</a:t>
            </a:r>
          </a:p>
          <a:p>
            <a:pPr algn="l" marL="863601" indent="-287867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Hu, E.J. </a:t>
            </a:r>
            <a:r>
              <a:rPr lang="en-US" sz="2000" i="true">
                <a:solidFill>
                  <a:srgbClr val="0258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 al. </a:t>
            </a:r>
            <a:r>
              <a:rPr lang="en-US" sz="2000">
                <a:solidFill>
                  <a:srgbClr val="025841"/>
                </a:solidFill>
                <a:latin typeface="Poppins"/>
                <a:ea typeface="Poppins"/>
                <a:cs typeface="Poppins"/>
                <a:sym typeface="Poppins"/>
              </a:rPr>
              <a:t>(2022) ICLR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DAHKxbOKFgE</dc:identifier>
  <dcterms:modified xsi:type="dcterms:W3CDTF">2011-08-01T06:04:30Z</dcterms:modified>
  <cp:revision>1</cp:revision>
  <dc:title>2_Training_gLLMs</dc:title>
</cp:coreProperties>
</file>