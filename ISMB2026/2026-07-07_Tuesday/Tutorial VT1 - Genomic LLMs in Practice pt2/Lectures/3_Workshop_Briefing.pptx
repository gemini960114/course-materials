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oppins Bold" charset="1" panose="00000800000000000000"/>
      <p:regular r:id="rId10"/>
    </p:embeddedFont>
    <p:embeddedFont>
      <p:font typeface="Poppins Ultra-Bold" charset="1" panose="00000900000000000000"/>
      <p:regular r:id="rId11"/>
    </p:embeddedFont>
    <p:embeddedFont>
      <p:font typeface="Poppins" charset="1" panose="00000500000000000000"/>
      <p:regular r:id="rId12"/>
    </p:embeddedFont>
    <p:embeddedFont>
      <p:font typeface="Canva Sans" charset="1" panose="020B05030305010401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https://github.com/meghegde/genomic-llms-in-practice/blob/main/Workshop/Exercise_Finetuning.ipynb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https://github.com/meghegde/genomic-llms-in-practice/blob/main/Workshop/Exercise_genomic_llm_embeddings_and_interpretability.ipynb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0094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97094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0828" y="-1093697"/>
            <a:ext cx="735744" cy="4337303"/>
            <a:chOff x="0" y="0"/>
            <a:chExt cx="220184" cy="12980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184" cy="1298014"/>
            </a:xfrm>
            <a:custGeom>
              <a:avLst/>
              <a:gdLst/>
              <a:ahLst/>
              <a:cxnLst/>
              <a:rect r="r" b="b" t="t" l="l"/>
              <a:pathLst>
                <a:path h="1298014" w="220184">
                  <a:moveTo>
                    <a:pt x="0" y="0"/>
                  </a:moveTo>
                  <a:lnTo>
                    <a:pt x="220184" y="0"/>
                  </a:lnTo>
                  <a:lnTo>
                    <a:pt x="220184" y="1298014"/>
                  </a:lnTo>
                  <a:lnTo>
                    <a:pt x="0" y="1298014"/>
                  </a:ln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184" cy="1336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46136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28645" y="277804"/>
            <a:ext cx="9589789" cy="1594302"/>
          </a:xfrm>
          <a:custGeom>
            <a:avLst/>
            <a:gdLst/>
            <a:ahLst/>
            <a:cxnLst/>
            <a:rect r="r" b="b" t="t" l="l"/>
            <a:pathLst>
              <a:path h="1594302" w="9589789">
                <a:moveTo>
                  <a:pt x="0" y="0"/>
                </a:moveTo>
                <a:lnTo>
                  <a:pt x="9589789" y="0"/>
                </a:lnTo>
                <a:lnTo>
                  <a:pt x="9589789" y="1594302"/>
                </a:lnTo>
                <a:lnTo>
                  <a:pt x="0" y="1594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80186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8415" y="4659969"/>
            <a:ext cx="9110393" cy="806827"/>
            <a:chOff x="0" y="0"/>
            <a:chExt cx="2399445" cy="2124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9445" cy="212498"/>
            </a:xfrm>
            <a:custGeom>
              <a:avLst/>
              <a:gdLst/>
              <a:ahLst/>
              <a:cxnLst/>
              <a:rect r="r" b="b" t="t" l="l"/>
              <a:pathLst>
                <a:path h="21249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70008"/>
                  </a:lnTo>
                  <a:cubicBezTo>
                    <a:pt x="2399445" y="193475"/>
                    <a:pt x="2380422" y="212498"/>
                    <a:pt x="2356956" y="212498"/>
                  </a:cubicBezTo>
                  <a:lnTo>
                    <a:pt x="42489" y="212498"/>
                  </a:lnTo>
                  <a:cubicBezTo>
                    <a:pt x="19023" y="212498"/>
                    <a:pt x="0" y="193475"/>
                    <a:pt x="0" y="170008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02584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399445" cy="298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AFAF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Hands-On Introduction With Huggingface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58415" y="2139780"/>
            <a:ext cx="10704282" cy="223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7"/>
              </a:lnSpc>
            </a:pPr>
            <a:r>
              <a:rPr lang="en-US" b="true" sz="86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GENOMIC LLMS IN PRACTICE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8415" y="8594678"/>
            <a:ext cx="1449718" cy="1449718"/>
          </a:xfrm>
          <a:custGeom>
            <a:avLst/>
            <a:gdLst/>
            <a:ahLst/>
            <a:cxnLst/>
            <a:rect r="r" b="b" t="t" l="l"/>
            <a:pathLst>
              <a:path h="1449718" w="1449718">
                <a:moveTo>
                  <a:pt x="0" y="0"/>
                </a:moveTo>
                <a:lnTo>
                  <a:pt x="1449718" y="0"/>
                </a:lnTo>
                <a:lnTo>
                  <a:pt x="1449718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67816" y="8594678"/>
            <a:ext cx="4232755" cy="1449718"/>
          </a:xfrm>
          <a:custGeom>
            <a:avLst/>
            <a:gdLst/>
            <a:ahLst/>
            <a:cxnLst/>
            <a:rect r="r" b="b" t="t" l="l"/>
            <a:pathLst>
              <a:path h="1449718" w="4232755">
                <a:moveTo>
                  <a:pt x="0" y="0"/>
                </a:moveTo>
                <a:lnTo>
                  <a:pt x="4232755" y="0"/>
                </a:lnTo>
                <a:lnTo>
                  <a:pt x="4232755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58415" y="7340176"/>
            <a:ext cx="9110393" cy="878560"/>
            <a:chOff x="0" y="0"/>
            <a:chExt cx="2399445" cy="2313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99445" cy="231390"/>
            </a:xfrm>
            <a:custGeom>
              <a:avLst/>
              <a:gdLst/>
              <a:ahLst/>
              <a:cxnLst/>
              <a:rect r="r" b="b" t="t" l="l"/>
              <a:pathLst>
                <a:path h="231390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88901"/>
                  </a:lnTo>
                  <a:cubicBezTo>
                    <a:pt x="2399445" y="212367"/>
                    <a:pt x="2380422" y="231390"/>
                    <a:pt x="2356956" y="231390"/>
                  </a:cubicBezTo>
                  <a:lnTo>
                    <a:pt x="42489" y="231390"/>
                  </a:lnTo>
                  <a:cubicBezTo>
                    <a:pt x="19023" y="231390"/>
                    <a:pt x="0" y="212367"/>
                    <a:pt x="0" y="188901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02584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399445" cy="288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by Megha Hegde, Shashank Ravichandran, Jean-Christophe Nebel, Ragothaman Yennamalli, Farzana Rahman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58415" y="5756616"/>
            <a:ext cx="9110393" cy="1293741"/>
            <a:chOff x="0" y="0"/>
            <a:chExt cx="2399445" cy="3407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99445" cy="340738"/>
            </a:xfrm>
            <a:custGeom>
              <a:avLst/>
              <a:gdLst/>
              <a:ahLst/>
              <a:cxnLst/>
              <a:rect r="r" b="b" t="t" l="l"/>
              <a:pathLst>
                <a:path h="34073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298249"/>
                  </a:lnTo>
                  <a:cubicBezTo>
                    <a:pt x="2399445" y="321715"/>
                    <a:pt x="2380422" y="340738"/>
                    <a:pt x="2356956" y="340738"/>
                  </a:cubicBezTo>
                  <a:lnTo>
                    <a:pt x="42489" y="340738"/>
                  </a:lnTo>
                  <a:cubicBezTo>
                    <a:pt x="19023" y="340738"/>
                    <a:pt x="0" y="321715"/>
                    <a:pt x="0" y="298249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399445" cy="426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29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Workshop Briefing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106146" y="6174921"/>
            <a:ext cx="5153154" cy="5023106"/>
            <a:chOff x="0" y="0"/>
            <a:chExt cx="1542172" cy="1503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2172" cy="1503253"/>
            </a:xfrm>
            <a:custGeom>
              <a:avLst/>
              <a:gdLst/>
              <a:ahLst/>
              <a:cxnLst/>
              <a:rect r="r" b="b" t="t" l="l"/>
              <a:pathLst>
                <a:path h="1503253" w="1542172">
                  <a:moveTo>
                    <a:pt x="0" y="0"/>
                  </a:moveTo>
                  <a:lnTo>
                    <a:pt x="1542172" y="0"/>
                  </a:lnTo>
                  <a:lnTo>
                    <a:pt x="1542172" y="1503253"/>
                  </a:lnTo>
                  <a:lnTo>
                    <a:pt x="0" y="1503253"/>
                  </a:ln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42172" cy="1541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19600" y="1978022"/>
            <a:ext cx="5983916" cy="7183576"/>
            <a:chOff x="0" y="0"/>
            <a:chExt cx="1205576" cy="14472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5576" cy="1447271"/>
            </a:xfrm>
            <a:custGeom>
              <a:avLst/>
              <a:gdLst/>
              <a:ahLst/>
              <a:cxnLst/>
              <a:rect r="r" b="b" t="t" l="l"/>
              <a:pathLst>
                <a:path h="1447271" w="1205576">
                  <a:moveTo>
                    <a:pt x="0" y="0"/>
                  </a:moveTo>
                  <a:lnTo>
                    <a:pt x="1205576" y="0"/>
                  </a:lnTo>
                  <a:lnTo>
                    <a:pt x="1205576" y="1447271"/>
                  </a:lnTo>
                  <a:lnTo>
                    <a:pt x="0" y="1447271"/>
                  </a:lnTo>
                  <a:close/>
                </a:path>
              </a:pathLst>
            </a:custGeom>
            <a:blipFill>
              <a:blip r:embed="rId4"/>
              <a:stretch>
                <a:fillRect l="-40092" t="0" r="-4009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2622065"/>
            <a:ext cx="8577884" cy="264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7099" b="true">
                <a:solidFill>
                  <a:srgbClr val="00291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TASK 1: FINE-TUNING TINYDNABERT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641169"/>
            <a:ext cx="8137271" cy="180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00291E"/>
                </a:solidFill>
                <a:latin typeface="Poppins"/>
                <a:ea typeface="Poppins"/>
                <a:cs typeface="Poppins"/>
                <a:sym typeface="Poppins"/>
              </a:rPr>
              <a:t>Open the following Google Colab notebook: </a:t>
            </a:r>
            <a:r>
              <a:rPr lang="en-US" sz="1800" u="sng">
                <a:solidFill>
                  <a:srgbClr val="00291E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meghegde/genomic-llms-in-practice/blob/main/Workshop/Exercise_Finetuning.ipynb"/>
              </a:rPr>
              <a:t>https://github.com/meghegde/genomic-llms-in-practice/blob/main/Workshop/Exercise_Finetuning.ipynb</a:t>
            </a:r>
          </a:p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00291E"/>
                </a:solidFill>
                <a:latin typeface="Poppins"/>
                <a:ea typeface="Poppins"/>
                <a:cs typeface="Poppins"/>
                <a:sym typeface="Poppins"/>
              </a:rPr>
              <a:t>Follow the instructions and fill in the blanks to fine-tune TinyDNABERT.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63697" y="5865082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106146" y="6174921"/>
            <a:ext cx="5153154" cy="5023106"/>
            <a:chOff x="0" y="0"/>
            <a:chExt cx="1542172" cy="1503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2172" cy="1503253"/>
            </a:xfrm>
            <a:custGeom>
              <a:avLst/>
              <a:gdLst/>
              <a:ahLst/>
              <a:cxnLst/>
              <a:rect r="r" b="b" t="t" l="l"/>
              <a:pathLst>
                <a:path h="1503253" w="1542172">
                  <a:moveTo>
                    <a:pt x="0" y="0"/>
                  </a:moveTo>
                  <a:lnTo>
                    <a:pt x="1542172" y="0"/>
                  </a:lnTo>
                  <a:lnTo>
                    <a:pt x="1542172" y="1503253"/>
                  </a:lnTo>
                  <a:lnTo>
                    <a:pt x="0" y="1503253"/>
                  </a:lnTo>
                  <a:close/>
                </a:path>
              </a:pathLst>
            </a:custGeom>
            <a:solidFill>
              <a:srgbClr val="EFFF3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42172" cy="1541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19600" y="1978022"/>
            <a:ext cx="5983916" cy="7183576"/>
            <a:chOff x="0" y="0"/>
            <a:chExt cx="1205576" cy="14472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5576" cy="1447271"/>
            </a:xfrm>
            <a:custGeom>
              <a:avLst/>
              <a:gdLst/>
              <a:ahLst/>
              <a:cxnLst/>
              <a:rect r="r" b="b" t="t" l="l"/>
              <a:pathLst>
                <a:path h="1447271" w="1205576">
                  <a:moveTo>
                    <a:pt x="0" y="0"/>
                  </a:moveTo>
                  <a:lnTo>
                    <a:pt x="1205576" y="0"/>
                  </a:lnTo>
                  <a:lnTo>
                    <a:pt x="1205576" y="1447271"/>
                  </a:lnTo>
                  <a:lnTo>
                    <a:pt x="0" y="1447271"/>
                  </a:lnTo>
                  <a:close/>
                </a:path>
              </a:pathLst>
            </a:custGeom>
            <a:blipFill>
              <a:blip r:embed="rId4"/>
              <a:stretch>
                <a:fillRect l="-40092" t="0" r="-40092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263697" y="5865082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612540"/>
            <a:ext cx="8577884" cy="37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7"/>
              </a:lnSpc>
            </a:pPr>
            <a:r>
              <a:rPr lang="en-US" sz="6199" b="true">
                <a:solidFill>
                  <a:srgbClr val="00291E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TASK 2: FINE-TUNING NUCLEOTIDE TRANSFORMER + INTERPRETING EMBEDDINGS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641169"/>
            <a:ext cx="8137271" cy="272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00291E"/>
                </a:solidFill>
                <a:latin typeface="Poppins"/>
                <a:ea typeface="Poppins"/>
                <a:cs typeface="Poppins"/>
                <a:sym typeface="Poppins"/>
              </a:rPr>
              <a:t>Open the following Google Colab notebook: </a:t>
            </a:r>
            <a:r>
              <a:rPr lang="en-US" sz="1800" u="sng">
                <a:solidFill>
                  <a:srgbClr val="00291E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meghegde/genomic-llms-in-practice/blob/main/Workshop/Exercise_genomic_llm_embeddings_and_interpretability.ipynb"/>
              </a:rPr>
              <a:t>https://github.com/meghegde/genomic-llms-in-practice/blob/main/Workshop/Exercise_genomic_llm_embeddings_and_interpretability.ipynb</a:t>
            </a:r>
          </a:p>
          <a:p>
            <a:pPr algn="just">
              <a:lnSpc>
                <a:spcPts val="3600"/>
              </a:lnSpc>
            </a:pPr>
            <a:r>
              <a:rPr lang="en-US" sz="1800">
                <a:solidFill>
                  <a:srgbClr val="00291E"/>
                </a:solidFill>
                <a:latin typeface="Poppins"/>
                <a:ea typeface="Poppins"/>
                <a:cs typeface="Poppins"/>
                <a:sym typeface="Poppins"/>
              </a:rPr>
              <a:t>Follow the instructions and fill in the blanks to perform fine-tune Nucleotide Transformer and interpret the embeddings.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DAHK27CXOuQ</dc:identifier>
  <dcterms:modified xsi:type="dcterms:W3CDTF">2011-08-01T06:04:30Z</dcterms:modified>
  <cp:revision>1</cp:revision>
  <dc:title>3_Workshop_Briefing</dc:title>
</cp:coreProperties>
</file>