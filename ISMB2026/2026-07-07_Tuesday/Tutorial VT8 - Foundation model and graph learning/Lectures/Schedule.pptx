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45"/>
  </p:normalViewPr>
  <p:slideViewPr>
    <p:cSldViewPr snapToGrid="0">
      <p:cViewPr varScale="1">
        <p:scale>
          <a:sx n="118" d="100"/>
          <a:sy n="118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0E10-A7F3-E9E3-10EC-51BB48910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D0ECD-B84D-5BA8-ACF0-55429D930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B2E2F-B180-73BC-492A-1809EB4F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5D02B-2625-FBD3-6EDC-A8263622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7F18-9CB4-9719-EAA2-522C0F76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73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D5D0-1632-6182-1EB5-37D885EF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31D7F-9B94-EDD0-6D14-111A3B403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1E86D-9DBD-915E-FAA1-379813CC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26E1A-A55C-D6C3-B760-9850EBC0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C46A-9103-43AF-50EA-FC7509BF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3EDA-3868-155C-D57C-749EC47F0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DF4F2-DACF-2676-AB4F-C2167B79F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9506E-79A7-FD36-C933-D03CA8F7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61E69-37F2-4F52-FAB5-8B55F54E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28D9-095F-A6AA-D880-034C9B85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9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8369-4509-2510-2222-44730E72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15577-1441-20F4-EF74-DCB2CC937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231C5-50CE-D4A2-35A6-1738A3F59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A05F2-B0D1-43B9-C917-D5F2D492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334A1-B160-29A1-39E6-160FFBAF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E59D7-780E-6CC7-AACC-98CF9CB7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82BD-E18D-8566-EC13-423CE9B9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57EFD-283D-E368-87D4-FF6AF027B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0ADBD-CAF1-B90E-6F90-43FC8E119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E1068-A131-FF13-780C-653403705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F0400-FD2B-6D15-EA8C-952E4E170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52B9C-69D7-44A8-BCDD-7D1DAFA9E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CB600-C02D-22F0-E9E9-F20F788CE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4FE1D-EB90-9191-6C2C-57B21911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3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7938-95A7-A560-D209-2C23DCE5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F592F-1CED-E79E-6EFB-C6A7B263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DE942-DB48-887B-FC92-B0A5847F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64ADC-00EE-DD65-7486-E5331435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205450-3138-289B-7014-6C63F240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3EBAF5-CB80-878D-FF1D-EA9B472E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916D-5A36-69E5-9E79-689FACA3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E35A-E319-3A7C-0961-CF14315C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A7255-0CC9-0DC3-FDF7-1A1016FEC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E8D1B-1871-1476-9A9A-6C3C0A057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A648C-A1F6-90D9-B69E-8EE7A707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6F784-F2DF-2C2D-6BA2-638BD7FE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2E8C0-7E7C-3A8B-1555-D21398AE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0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4934-EBAD-028D-F931-7E83D836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5C52D-4568-EDED-7BEB-A0C73FDCF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DBF32-E7A5-CE69-4C8C-0CF8B5E7D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1E11A-23E8-BA84-4A9B-8CEE9518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4595A-BC69-74E3-BB89-432ADA24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1E7C6-1A8E-9F1A-7BA9-4C413F63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0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3A90-6AD6-8EAF-24E5-7D1FA377C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AA9A7-68A4-D439-4547-0083C7237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F5DD1-8048-37EC-DFF2-95901FEB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A6CEA-35B5-808D-C341-F5FCBB80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2C68-A7DA-8CF4-3E5E-438328DA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88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F7868-6DEC-4000-4216-0329626C9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26AD4-3A8E-0C21-4123-6E0D7C0E2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34423-F110-0F9B-5BAF-4672FB8F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EBBF-4446-54AC-0F0C-D29A5329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B5A72-6F26-566A-5B4B-CBEB2CC8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8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B1DF0-3D70-97FF-9C0E-4F57D6B0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16915-E206-04F1-74B4-DB348EDF0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B0CD1-56F9-3CF1-DE05-72FC58DD1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34D9E-550C-6C44-8CC8-074FD14C08B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4238E-5972-D1D6-4F14-6013C13F0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AB36E-DE14-9FED-0DC5-0C203DA92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7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exinwang/ISMB_2026" TargetMode="External"/><Relationship Id="rId2" Type="http://schemas.openxmlformats.org/officeDocument/2006/relationships/hyperlink" Target="https://www.iscb.org/ismb2026/whats-happening/tutorials#vt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2185-331E-045A-6DD0-17E36B3BE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-200932"/>
            <a:ext cx="10515600" cy="1325563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07FA-569C-895B-64BB-998D60632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3253"/>
            <a:ext cx="11876314" cy="6044747"/>
          </a:xfrm>
        </p:spPr>
        <p:txBody>
          <a:bodyPr>
            <a:normAutofit/>
          </a:bodyPr>
          <a:lstStyle/>
          <a:p>
            <a:r>
              <a:rPr lang="en-US" sz="1400" dirty="0"/>
              <a:t>09:00-09:30	Part 1: Overview: Introduction to deep graph presentation learning for single-cell/spatial omics/histopathology data. (Qin Ma)</a:t>
            </a:r>
          </a:p>
          <a:p>
            <a:r>
              <a:rPr lang="en-US" sz="1400" dirty="0"/>
              <a:t>09:30-10:00	Part 2: Overview of foundation models in bioinformatics. (Dong Xu)</a:t>
            </a:r>
          </a:p>
          <a:p>
            <a:r>
              <a:rPr lang="en-US" sz="1400" dirty="0"/>
              <a:t>10:00-10:45	Part 3: Introduction to visual-omics foundation models: (hands-on exercises) (</a:t>
            </a:r>
            <a:r>
              <a:rPr lang="en-US" sz="1400" dirty="0" err="1"/>
              <a:t>Guangyu</a:t>
            </a:r>
            <a:r>
              <a:rPr lang="en-US" sz="1400" dirty="0"/>
              <a:t> Wang)</a:t>
            </a:r>
          </a:p>
          <a:p>
            <a:r>
              <a:rPr lang="en-US" sz="1400" dirty="0"/>
              <a:t>10:45-11:00	Coffee Break</a:t>
            </a:r>
          </a:p>
          <a:p>
            <a:r>
              <a:rPr lang="en-US" sz="1400" dirty="0"/>
              <a:t>11:00-12:00	Part 4: Application #1: Spatial omics and histopathology analysis with multimodal foundation models and their downstream analysis: (hands-on exercises) (</a:t>
            </a:r>
            <a:r>
              <a:rPr lang="en-US" sz="1400" dirty="0" err="1"/>
              <a:t>Weiqing</a:t>
            </a:r>
            <a:r>
              <a:rPr lang="en-US" sz="1400" dirty="0"/>
              <a:t> Chen/</a:t>
            </a:r>
            <a:r>
              <a:rPr lang="en-US" sz="1400" dirty="0" err="1"/>
              <a:t>Guangyu</a:t>
            </a:r>
            <a:r>
              <a:rPr lang="en-US" sz="1400" dirty="0"/>
              <a:t> Wang’s group)</a:t>
            </a:r>
          </a:p>
          <a:p>
            <a:r>
              <a:rPr lang="en-US" sz="1400" dirty="0"/>
              <a:t>12:00-13:00	Part 5: Application #2: Single cell analysis with efficient finetune single cell foundation models, and use it for acquisition, model training, and interpretation (hands-on exercises). (Fei He/Dong Xu’s group)</a:t>
            </a:r>
          </a:p>
          <a:p>
            <a:r>
              <a:rPr lang="en-US" sz="1400" dirty="0"/>
              <a:t>13:00-14:00	Lunch Break</a:t>
            </a:r>
          </a:p>
          <a:p>
            <a:r>
              <a:rPr lang="en-US" sz="1400" dirty="0"/>
              <a:t>14:00-14:30	Part 6: Introduction of graph learning approaches. (Juexin Wang)</a:t>
            </a:r>
          </a:p>
          <a:p>
            <a:r>
              <a:rPr lang="en-US" sz="1400" dirty="0"/>
              <a:t>14:30-15:00	Part 7: Applications #3: Function-related cellular neighborhood analysis with data acquisition, model training, and interpretation (hands-on exercises). (Yang Yu/Dong Xu’s group)</a:t>
            </a:r>
          </a:p>
          <a:p>
            <a:r>
              <a:rPr lang="en-US" sz="1400" dirty="0"/>
              <a:t>15:00-15:30	Part 8: Applications #4: Functional tissue unit analysis with data acquisition, model training, and interpretation (hands-on exercises). (Yuzhou Chang/Qin Ma’s group)</a:t>
            </a:r>
          </a:p>
          <a:p>
            <a:r>
              <a:rPr lang="en-US" sz="1400" dirty="0"/>
              <a:t>15:30-16:00	Part 9: Application #5: Spatially variable features analysis with data acquisition, model training, and interpretation (hands-on exercises). (</a:t>
            </a:r>
            <a:r>
              <a:rPr lang="en-US" sz="1400" dirty="0" err="1"/>
              <a:t>Mauminah</a:t>
            </a:r>
            <a:r>
              <a:rPr lang="en-US" sz="1400" dirty="0"/>
              <a:t> Raina/Juexin Wang’s group)</a:t>
            </a:r>
          </a:p>
          <a:p>
            <a:r>
              <a:rPr lang="en-US" sz="1400" dirty="0"/>
              <a:t>16:00-16:15	Coffee Break</a:t>
            </a:r>
          </a:p>
          <a:p>
            <a:r>
              <a:rPr lang="en-US" sz="1400" dirty="0"/>
              <a:t>16:15-17:05	Part 10: Application #6: Explore multi-omics data with brightfield histology with web-based applications for data acquisition, model fitting, and analysis (hands-on exercises). (Pinaki Sarder)</a:t>
            </a:r>
          </a:p>
          <a:p>
            <a:r>
              <a:rPr lang="en-US" sz="1400" dirty="0"/>
              <a:t>17:05-17:55	Part 11: Application #7: A case study to explore neighborhoods in kidney health and disease. (Michael Eadon)</a:t>
            </a:r>
          </a:p>
          <a:p>
            <a:r>
              <a:rPr lang="en-US" sz="1400" dirty="0"/>
              <a:t>17:55-18:00	Summary (Juexin Wang)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624F1-56E5-780F-D4B9-C021E3E4B1F8}"/>
              </a:ext>
            </a:extLst>
          </p:cNvPr>
          <p:cNvSpPr txBox="1"/>
          <p:nvPr/>
        </p:nvSpPr>
        <p:spPr>
          <a:xfrm>
            <a:off x="4226378" y="138683"/>
            <a:ext cx="9119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linkClick r:id="rId2"/>
              </a:rPr>
              <a:t>https://www.iscb.org/ismb2026/whats-happening/tutorials#vt8</a:t>
            </a:r>
            <a:endParaRPr lang="en-US" b="1" dirty="0"/>
          </a:p>
          <a:p>
            <a:r>
              <a:rPr lang="en-US" b="1" dirty="0">
                <a:hlinkClick r:id="rId3"/>
              </a:rPr>
              <a:t>https://github.com/juexinwang/ISMB_2026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244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362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Juexin</dc:creator>
  <cp:lastModifiedBy>Wang, Juexin</cp:lastModifiedBy>
  <cp:revision>3</cp:revision>
  <dcterms:created xsi:type="dcterms:W3CDTF">2026-07-05T20:08:51Z</dcterms:created>
  <dcterms:modified xsi:type="dcterms:W3CDTF">2026-07-06T23:46:18Z</dcterms:modified>
</cp:coreProperties>
</file>