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3801ec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3801ec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1581788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1581788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Everything above is in the notebook. We'll move section by section — code, run, discuss, then move on. The bonus sections are yours to take home if we run long.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c34b93d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c34b93d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3801ec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3801ec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3801ec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3801ec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3801ec2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3801ec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3801ec2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3801ec2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3801ec2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3801ec2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3801ec2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43801ec2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091466d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091466d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446b0dd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446b0dd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3801ec2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43801ec2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43801ec2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43801ec2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33773f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33773f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295f478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295f478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295f4784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295f4784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95f4784c_0_4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295f4784c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295f4784c_0_4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295f4784c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43801ec2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43801ec2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0fdd7fb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0fdd7fb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446b0dd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446b0dd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jpg"/><Relationship Id="rId7" Type="http://schemas.openxmlformats.org/officeDocument/2006/relationships/image" Target="../media/image14.jpg"/><Relationship Id="rId8" Type="http://schemas.openxmlformats.org/officeDocument/2006/relationships/hyperlink" Target="https://bit.ly/DCTUTORIA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380"/>
              <a:t>Programming robust LLM Agents for assisting scientific tasks</a:t>
            </a:r>
            <a:endParaRPr sz="43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ISMB 2026 tutorial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Today's topics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92037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L</a:t>
            </a:r>
            <a:r>
              <a:rPr b="1" lang="en-GB" sz="1600">
                <a:solidFill>
                  <a:schemeClr val="dk1"/>
                </a:solidFill>
              </a:rPr>
              <a:t>LM basics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Tools</a:t>
            </a:r>
            <a:endParaRPr b="1" sz="1600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600">
                <a:solidFill>
                  <a:schemeClr val="dk1"/>
                </a:solidFill>
              </a:rPr>
              <a:t>Structured results &amp; validators</a:t>
            </a:r>
            <a:endParaRPr b="1" sz="1600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600">
                <a:solidFill>
                  <a:schemeClr val="dk1"/>
                </a:solidFill>
              </a:rPr>
              <a:t>Multi-agents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Docker</a:t>
            </a:r>
            <a:endParaRPr b="1" sz="1600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600">
                <a:solidFill>
                  <a:schemeClr val="dk1"/>
                </a:solidFill>
              </a:rPr>
              <a:t>[Bonus] Use case: autonomous ML agent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642050" y="1053825"/>
            <a:ext cx="690900" cy="3550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823500" y="4163650"/>
            <a:ext cx="7083600" cy="77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086100" y="4262450"/>
            <a:ext cx="2971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</a:rPr>
              <a:t>Capability + Cost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18175" y="532850"/>
            <a:ext cx="124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</a:rPr>
              <a:t>Control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62675" y="92525"/>
            <a:ext cx="196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</a:rPr>
              <a:t>Robustness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281088" y="3383150"/>
            <a:ext cx="1249800" cy="87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LLM</a:t>
            </a:r>
            <a:endParaRPr sz="2800"/>
          </a:p>
        </p:txBody>
      </p:sp>
      <p:sp>
        <p:nvSpPr>
          <p:cNvPr id="72" name="Google Shape;72;p15"/>
          <p:cNvSpPr/>
          <p:nvPr/>
        </p:nvSpPr>
        <p:spPr>
          <a:xfrm>
            <a:off x="4414825" y="2665975"/>
            <a:ext cx="1765200" cy="15966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Codex</a:t>
            </a:r>
            <a:endParaRPr sz="2800"/>
          </a:p>
        </p:txBody>
      </p:sp>
      <p:sp>
        <p:nvSpPr>
          <p:cNvPr id="73" name="Google Shape;73;p15"/>
          <p:cNvSpPr/>
          <p:nvPr/>
        </p:nvSpPr>
        <p:spPr>
          <a:xfrm>
            <a:off x="6219050" y="3259175"/>
            <a:ext cx="1651500" cy="9747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Claw</a:t>
            </a:r>
            <a:endParaRPr sz="2800"/>
          </a:p>
        </p:txBody>
      </p:sp>
      <p:sp>
        <p:nvSpPr>
          <p:cNvPr id="74" name="Google Shape;74;p15"/>
          <p:cNvSpPr/>
          <p:nvPr/>
        </p:nvSpPr>
        <p:spPr>
          <a:xfrm>
            <a:off x="1933075" y="1148450"/>
            <a:ext cx="3036000" cy="21387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Custom Agents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07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Token generation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392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 token at a time </a:t>
            </a:r>
            <a:r>
              <a:rPr b="1" lang="en-GB">
                <a:solidFill>
                  <a:schemeClr val="dk1"/>
                </a:solidFill>
              </a:rPr>
              <a:t>text completion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Chats don’t show helper tokens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>
            <a:off x="5232125" y="808825"/>
            <a:ext cx="3763800" cy="3146138"/>
            <a:chOff x="5344575" y="445025"/>
            <a:chExt cx="3763800" cy="3146138"/>
          </a:xfrm>
        </p:grpSpPr>
        <p:sp>
          <p:nvSpPr>
            <p:cNvPr id="82" name="Google Shape;82;p16"/>
            <p:cNvSpPr/>
            <p:nvPr/>
          </p:nvSpPr>
          <p:spPr>
            <a:xfrm>
              <a:off x="5344575" y="445025"/>
              <a:ext cx="3763800" cy="343800"/>
            </a:xfrm>
            <a:prstGeom prst="roundRect">
              <a:avLst>
                <a:gd fmla="val 16667" name="adj"/>
              </a:avLst>
            </a:prstGeom>
            <a:solidFill>
              <a:srgbClr val="ADADAD"/>
            </a:solidFill>
            <a:ln cap="flat" cmpd="sng" w="9525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" name="Google Shape;8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33525" y="994763"/>
              <a:ext cx="2985882" cy="259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6"/>
            <p:cNvSpPr txBox="1"/>
            <p:nvPr/>
          </p:nvSpPr>
          <p:spPr>
            <a:xfrm>
              <a:off x="6905625" y="476250"/>
              <a:ext cx="641700" cy="2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212121"/>
                  </a:solidFill>
                </a:rPr>
                <a:t>LLM</a:t>
              </a:r>
              <a:endParaRPr sz="1800">
                <a:solidFill>
                  <a:srgbClr val="212121"/>
                </a:solidFill>
              </a:endParaRPr>
            </a:p>
          </p:txBody>
        </p:sp>
      </p:grpSp>
      <p:sp>
        <p:nvSpPr>
          <p:cNvPr id="85" name="Google Shape;85;p16"/>
          <p:cNvSpPr txBox="1"/>
          <p:nvPr/>
        </p:nvSpPr>
        <p:spPr>
          <a:xfrm>
            <a:off x="5648825" y="43700"/>
            <a:ext cx="2930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50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Question</a:t>
            </a:r>
            <a:endParaRPr b="1" sz="2300">
              <a:solidFill>
                <a:srgbClr val="BF9000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648825" y="4401950"/>
            <a:ext cx="2930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5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Answer</a:t>
            </a:r>
            <a:endParaRPr b="1" sz="1800">
              <a:solidFill>
                <a:srgbClr val="4A86E8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885875" y="476250"/>
            <a:ext cx="456300" cy="3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6885875" y="4028275"/>
            <a:ext cx="456300" cy="49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 rot="-5400000">
            <a:off x="4485700" y="761600"/>
            <a:ext cx="877800" cy="10386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 and Prompting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Input to the model (including system messages, user messages, and its own)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Can be huge but limited (1mil tokens)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Emerging property - in-context learning - enables prompting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prompt: You are a math assistant, refuse any non-math questions.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 prompt: What is the weather today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Answer: </a:t>
            </a:r>
            <a:r>
              <a:rPr lang="en-GB" sz="145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 can’t help you with that.</a:t>
            </a:r>
            <a:endParaRPr sz="145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32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805150"/>
            <a:ext cx="8520600" cy="44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You are a math assistant with calculator tools available to solve your tasks.</a:t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Available tools: [ </a:t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{"name":"Add", "args":["x","y"]} </a:t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User: What is the sum of 5 and 10</a:t>
            </a:r>
            <a:endParaRPr sz="1464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Assistant:</a:t>
            </a:r>
            <a:b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64">
                <a:solidFill>
                  <a:schemeClr val="dk1"/>
                </a:solidFill>
                <a:highlight>
                  <a:srgbClr val="FFD966"/>
                </a:highlight>
                <a:latin typeface="Courier New"/>
                <a:ea typeface="Courier New"/>
                <a:cs typeface="Courier New"/>
                <a:sym typeface="Courier New"/>
              </a:rPr>
              <a:t>&lt;call_tool&gt;{"name": "Add", "args": {"x": 5, "y": 10}}&lt;/call_tool&gt;</a:t>
            </a:r>
            <a:endParaRPr sz="1464">
              <a:solidFill>
                <a:schemeClr val="dk1"/>
              </a:solidFill>
              <a:highlight>
                <a:srgbClr val="FFD96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highlight>
                  <a:srgbClr val="9FC5E8"/>
                </a:highlight>
                <a:latin typeface="Courier New"/>
                <a:ea typeface="Courier New"/>
                <a:cs typeface="Courier New"/>
                <a:sym typeface="Courier New"/>
              </a:rPr>
              <a:t>&lt;tool_message&gt;("15")&lt;/tool_message&gt;</a:t>
            </a:r>
            <a:endParaRPr sz="1464">
              <a:solidFill>
                <a:schemeClr val="dk1"/>
              </a:solidFill>
              <a:highlight>
                <a:srgbClr val="9FC5E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64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sum is 15</a:t>
            </a:r>
            <a:r>
              <a:rPr lang="en-GB" sz="1464">
                <a:solidFill>
                  <a:schemeClr val="dk1"/>
                </a:solidFill>
                <a:highlight>
                  <a:srgbClr val="9FC5E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764">
              <a:solidFill>
                <a:schemeClr val="dk1"/>
              </a:solidFill>
              <a:highlight>
                <a:srgbClr val="9FC5E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7535700" y="2696950"/>
            <a:ext cx="12966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TRIGGER!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 rot="-3053828">
            <a:off x="7100174" y="3180417"/>
            <a:ext cx="648312" cy="34399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5060950" y="3900900"/>
            <a:ext cx="1592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INJECTED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412600" y="3948925"/>
            <a:ext cx="648300" cy="344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4619150" y="2336013"/>
            <a:ext cx="28701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FIRST USER MESSAGE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 rot="-2315613">
            <a:off x="4080707" y="2758117"/>
            <a:ext cx="648293" cy="34408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 01 - Tools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the VT6 chat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Check the chat for the link to the notebook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Check the chat for an API key and copy it into </a:t>
            </a:r>
            <a:r>
              <a:rPr lang="en-GB"/>
              <a:t>OPENROUTER_API_KEY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Structured outputs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guarantee JSON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 can validate e.g. origin_year is positive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742600" y="2298125"/>
            <a:ext cx="72618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 prompt: Who is the best superhero? Answer in a json format with the following fields: name, origin_year, latest_movie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Answer: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5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"name": "Spider-Man",</a:t>
            </a:r>
            <a:endParaRPr sz="145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"origin_year": 1962,</a:t>
            </a:r>
            <a:endParaRPr sz="145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"latest_movie": "Spider-Man: Across the Spider-Verse"</a:t>
            </a:r>
            <a:endParaRPr sz="145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5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 02 - Structured outputs &amp; validators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the VT6 chat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Check the chat for the link to the notebook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Check the chat for an API key and copy it into OPENROUTER_API_KEY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BREAK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Back 10 mins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3" title="Tutorial Survey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agents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382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Reasons for multiple agents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Context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Passing only certain info and deps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Tool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LLM Configuration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Intermediate validation</a:t>
            </a:r>
            <a:endParaRPr/>
          </a:p>
        </p:txBody>
      </p:sp>
      <p:grpSp>
        <p:nvGrpSpPr>
          <p:cNvPr id="146" name="Google Shape;146;p24"/>
          <p:cNvGrpSpPr/>
          <p:nvPr/>
        </p:nvGrpSpPr>
        <p:grpSpPr>
          <a:xfrm>
            <a:off x="4213877" y="894741"/>
            <a:ext cx="1060035" cy="3416559"/>
            <a:chOff x="4965525" y="445025"/>
            <a:chExt cx="1366200" cy="4403350"/>
          </a:xfrm>
        </p:grpSpPr>
        <p:sp>
          <p:nvSpPr>
            <p:cNvPr id="147" name="Google Shape;147;p24"/>
            <p:cNvSpPr/>
            <p:nvPr/>
          </p:nvSpPr>
          <p:spPr>
            <a:xfrm>
              <a:off x="4965525" y="2139225"/>
              <a:ext cx="1366200" cy="936900"/>
            </a:xfrm>
            <a:prstGeom prst="rect">
              <a:avLst/>
            </a:prstGeom>
            <a:solidFill>
              <a:schemeClr val="lt2"/>
            </a:solidFill>
            <a:ln cap="flat" cmpd="sng" w="7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50" lIns="70950" spcFirstLastPara="1" rIns="70950" wrap="square" tIns="7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86"/>
                <a:t>Agent 1</a:t>
              </a:r>
              <a:endParaRPr sz="1086"/>
            </a:p>
          </p:txBody>
        </p:sp>
        <p:sp>
          <p:nvSpPr>
            <p:cNvPr id="148" name="Google Shape;148;p24"/>
            <p:cNvSpPr/>
            <p:nvPr/>
          </p:nvSpPr>
          <p:spPr>
            <a:xfrm rot="5400000">
              <a:off x="5340230" y="3283284"/>
              <a:ext cx="616800" cy="35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7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50" lIns="70950" spcFirstLastPara="1" rIns="70950" wrap="square" tIns="7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/>
            </a:p>
          </p:txBody>
        </p:sp>
        <p:sp>
          <p:nvSpPr>
            <p:cNvPr id="149" name="Google Shape;149;p24"/>
            <p:cNvSpPr/>
            <p:nvPr/>
          </p:nvSpPr>
          <p:spPr>
            <a:xfrm>
              <a:off x="5004525" y="445025"/>
              <a:ext cx="1288200" cy="804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7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50" lIns="70950" spcFirstLastPara="1" rIns="70950" wrap="square" tIns="7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86"/>
                <a:t>User</a:t>
              </a:r>
              <a:endParaRPr sz="1086"/>
            </a:p>
          </p:txBody>
        </p:sp>
        <p:sp>
          <p:nvSpPr>
            <p:cNvPr id="150" name="Google Shape;150;p24"/>
            <p:cNvSpPr/>
            <p:nvPr/>
          </p:nvSpPr>
          <p:spPr>
            <a:xfrm rot="5400000">
              <a:off x="5340225" y="1518625"/>
              <a:ext cx="616800" cy="35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7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50" lIns="70950" spcFirstLastPara="1" rIns="70950" wrap="square" tIns="7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/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4965525" y="3911475"/>
              <a:ext cx="1366200" cy="936900"/>
            </a:xfrm>
            <a:prstGeom prst="rect">
              <a:avLst/>
            </a:prstGeom>
            <a:solidFill>
              <a:schemeClr val="lt2"/>
            </a:solidFill>
            <a:ln cap="flat" cmpd="sng" w="7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50" lIns="70950" spcFirstLastPara="1" rIns="70950" wrap="square" tIns="7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86"/>
                <a:t>Agent 2</a:t>
              </a:r>
              <a:endParaRPr sz="1086"/>
            </a:p>
          </p:txBody>
        </p:sp>
      </p:grpSp>
      <p:grpSp>
        <p:nvGrpSpPr>
          <p:cNvPr id="152" name="Google Shape;152;p24"/>
          <p:cNvGrpSpPr/>
          <p:nvPr/>
        </p:nvGrpSpPr>
        <p:grpSpPr>
          <a:xfrm>
            <a:off x="5802524" y="895163"/>
            <a:ext cx="3112422" cy="3353170"/>
            <a:chOff x="4632975" y="405975"/>
            <a:chExt cx="4087225" cy="4403375"/>
          </a:xfrm>
        </p:grpSpPr>
        <p:sp>
          <p:nvSpPr>
            <p:cNvPr id="153" name="Google Shape;153;p24"/>
            <p:cNvSpPr/>
            <p:nvPr/>
          </p:nvSpPr>
          <p:spPr>
            <a:xfrm>
              <a:off x="5928200" y="2100175"/>
              <a:ext cx="1366200" cy="936900"/>
            </a:xfrm>
            <a:prstGeom prst="rect">
              <a:avLst/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66"/>
                <a:t>Agent 1</a:t>
              </a:r>
              <a:endParaRPr sz="1066"/>
            </a:p>
          </p:txBody>
        </p:sp>
        <p:sp>
          <p:nvSpPr>
            <p:cNvPr id="154" name="Google Shape;154;p24"/>
            <p:cNvSpPr/>
            <p:nvPr/>
          </p:nvSpPr>
          <p:spPr>
            <a:xfrm rot="7199622">
              <a:off x="5384409" y="3216370"/>
              <a:ext cx="616917" cy="35119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6"/>
            </a:p>
          </p:txBody>
        </p:sp>
        <p:sp>
          <p:nvSpPr>
            <p:cNvPr id="155" name="Google Shape;155;p24"/>
            <p:cNvSpPr/>
            <p:nvPr/>
          </p:nvSpPr>
          <p:spPr>
            <a:xfrm>
              <a:off x="5967200" y="405975"/>
              <a:ext cx="1288200" cy="804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66"/>
                <a:t>User</a:t>
              </a:r>
              <a:endParaRPr sz="1066"/>
            </a:p>
          </p:txBody>
        </p:sp>
        <p:sp>
          <p:nvSpPr>
            <p:cNvPr id="156" name="Google Shape;156;p24"/>
            <p:cNvSpPr/>
            <p:nvPr/>
          </p:nvSpPr>
          <p:spPr>
            <a:xfrm rot="5400000">
              <a:off x="6096175" y="1479575"/>
              <a:ext cx="616800" cy="35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6"/>
            </a:p>
          </p:txBody>
        </p:sp>
        <p:sp>
          <p:nvSpPr>
            <p:cNvPr id="157" name="Google Shape;157;p24"/>
            <p:cNvSpPr/>
            <p:nvPr/>
          </p:nvSpPr>
          <p:spPr>
            <a:xfrm>
              <a:off x="4632975" y="3872450"/>
              <a:ext cx="1366200" cy="936900"/>
            </a:xfrm>
            <a:prstGeom prst="rect">
              <a:avLst/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66"/>
                <a:t>Agent 2</a:t>
              </a:r>
              <a:endParaRPr sz="1066"/>
            </a:p>
          </p:txBody>
        </p:sp>
        <p:sp>
          <p:nvSpPr>
            <p:cNvPr id="158" name="Google Shape;158;p24"/>
            <p:cNvSpPr/>
            <p:nvPr/>
          </p:nvSpPr>
          <p:spPr>
            <a:xfrm rot="-3598930">
              <a:off x="5841301" y="3279160"/>
              <a:ext cx="617067" cy="35119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6"/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7354000" y="3872450"/>
              <a:ext cx="1366200" cy="936900"/>
            </a:xfrm>
            <a:prstGeom prst="rect">
              <a:avLst/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66"/>
                <a:t>Agent 3</a:t>
              </a:r>
              <a:endParaRPr sz="1066"/>
            </a:p>
          </p:txBody>
        </p:sp>
        <p:sp>
          <p:nvSpPr>
            <p:cNvPr id="160" name="Google Shape;160;p24"/>
            <p:cNvSpPr/>
            <p:nvPr/>
          </p:nvSpPr>
          <p:spPr>
            <a:xfrm rot="3600378">
              <a:off x="7035832" y="3279156"/>
              <a:ext cx="616917" cy="35119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6"/>
            </a:p>
          </p:txBody>
        </p:sp>
        <p:sp>
          <p:nvSpPr>
            <p:cNvPr id="161" name="Google Shape;161;p24"/>
            <p:cNvSpPr/>
            <p:nvPr/>
          </p:nvSpPr>
          <p:spPr>
            <a:xfrm rot="-7201070">
              <a:off x="7414521" y="3088030"/>
              <a:ext cx="617067" cy="35119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6"/>
            </a:p>
          </p:txBody>
        </p:sp>
        <p:sp>
          <p:nvSpPr>
            <p:cNvPr id="162" name="Google Shape;162;p24"/>
            <p:cNvSpPr/>
            <p:nvPr/>
          </p:nvSpPr>
          <p:spPr>
            <a:xfrm rot="-5400000">
              <a:off x="6553950" y="1479575"/>
              <a:ext cx="616800" cy="35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 cap="flat" cmpd="sng" w="7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625" lIns="69625" spcFirstLastPara="1" rIns="69625" wrap="square" tIns="6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6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 03 - Multi-Agent workflows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the VT6 chat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Check the chat for the link to the notebook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Check the chat for an API key and copy it into OPENROUTER_API_KEY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agents with Docker</a:t>
            </a:r>
            <a:endParaRPr/>
          </a:p>
        </p:txBody>
      </p:sp>
      <p:sp>
        <p:nvSpPr>
          <p:cNvPr id="174" name="Google Shape;174;p26"/>
          <p:cNvSpPr/>
          <p:nvPr/>
        </p:nvSpPr>
        <p:spPr>
          <a:xfrm>
            <a:off x="2804950" y="2143725"/>
            <a:ext cx="1183200" cy="13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le Icon SVG Vector &amp; PNG Free Download | UXWing"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80" y="2287812"/>
            <a:ext cx="1013225" cy="101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324088" y="3375625"/>
            <a:ext cx="1239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Dockerfile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7" name="Google Shape;177;p26"/>
          <p:cNvCxnSpPr/>
          <p:nvPr/>
        </p:nvCxnSpPr>
        <p:spPr>
          <a:xfrm flipH="1" rot="10800000">
            <a:off x="1566025" y="2874625"/>
            <a:ext cx="960600" cy="1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26"/>
          <p:cNvSpPr txBox="1"/>
          <p:nvPr/>
        </p:nvSpPr>
        <p:spPr>
          <a:xfrm>
            <a:off x="1668327" y="2427002"/>
            <a:ext cx="858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Build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Docker Icon SVG Vector &amp; PNG Free Download | UXWing"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325" y="2504312"/>
            <a:ext cx="754450" cy="7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/>
        </p:nvSpPr>
        <p:spPr>
          <a:xfrm>
            <a:off x="2551000" y="3542625"/>
            <a:ext cx="1691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Docker Image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Container - Free transport icons" id="181" name="Google Shape;18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2475" y="876850"/>
            <a:ext cx="1076750" cy="10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6382400" y="1710000"/>
            <a:ext cx="1403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Container 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Container - Free transport icons" id="183" name="Google Shape;18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2475" y="2343150"/>
            <a:ext cx="1076750" cy="10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6420325" y="3152775"/>
            <a:ext cx="1403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Container 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Container - Free transport icons" id="185" name="Google Shape;1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2475" y="3626175"/>
            <a:ext cx="1076750" cy="10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/>
          <p:nvPr/>
        </p:nvSpPr>
        <p:spPr>
          <a:xfrm>
            <a:off x="6382400" y="4431475"/>
            <a:ext cx="1403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Container 3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7" name="Google Shape;187;p26"/>
          <p:cNvCxnSpPr/>
          <p:nvPr/>
        </p:nvCxnSpPr>
        <p:spPr>
          <a:xfrm flipH="1" rot="10800000">
            <a:off x="4092525" y="1677500"/>
            <a:ext cx="2185500" cy="8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6"/>
          <p:cNvSpPr txBox="1"/>
          <p:nvPr/>
        </p:nvSpPr>
        <p:spPr>
          <a:xfrm>
            <a:off x="5060952" y="1600927"/>
            <a:ext cx="858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run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9" name="Google Shape;189;p26"/>
          <p:cNvCxnSpPr/>
          <p:nvPr/>
        </p:nvCxnSpPr>
        <p:spPr>
          <a:xfrm flipH="1" rot="10800000">
            <a:off x="4133550" y="2951000"/>
            <a:ext cx="2200200" cy="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6"/>
          <p:cNvCxnSpPr/>
          <p:nvPr/>
        </p:nvCxnSpPr>
        <p:spPr>
          <a:xfrm>
            <a:off x="4104138" y="3253113"/>
            <a:ext cx="22851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6"/>
          <p:cNvSpPr txBox="1"/>
          <p:nvPr/>
        </p:nvSpPr>
        <p:spPr>
          <a:xfrm>
            <a:off x="5060952" y="2557702"/>
            <a:ext cx="858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run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5060952" y="3221064"/>
            <a:ext cx="8583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run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🤖 Robot Emoji: Meaning &amp; Usage" id="193" name="Google Shape;19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5800" y="1244750"/>
            <a:ext cx="340950" cy="34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🤖 Robot Emoji: Meaning &amp; Usage" id="194" name="Google Shape;19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5800" y="2685592"/>
            <a:ext cx="340950" cy="34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🤖 Robot Emoji: Meaning &amp; Usage" id="195" name="Google Shape;19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5800" y="3980147"/>
            <a:ext cx="340950" cy="3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7"/>
          <p:cNvGrpSpPr/>
          <p:nvPr/>
        </p:nvGrpSpPr>
        <p:grpSpPr>
          <a:xfrm>
            <a:off x="685800" y="1295400"/>
            <a:ext cx="1897350" cy="2389000"/>
            <a:chOff x="6238375" y="2411600"/>
            <a:chExt cx="1897350" cy="2389000"/>
          </a:xfrm>
        </p:grpSpPr>
        <p:pic>
          <p:nvPicPr>
            <p:cNvPr id="201" name="Google Shape;201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38375" y="2771200"/>
              <a:ext cx="1897350" cy="202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7"/>
            <p:cNvSpPr txBox="1"/>
            <p:nvPr/>
          </p:nvSpPr>
          <p:spPr>
            <a:xfrm>
              <a:off x="6734425" y="2411600"/>
              <a:ext cx="97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Dataset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03" name="Google Shape;203;p27"/>
          <p:cNvSpPr txBox="1"/>
          <p:nvPr/>
        </p:nvSpPr>
        <p:spPr>
          <a:xfrm>
            <a:off x="3077625" y="279975"/>
            <a:ext cx="57057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Sequence					Class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GTCAGTCAGTCAGTCAGTCAGT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GTCAGTCAGTCAGTCACAGTAA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GGCATCGATCTTAGCATAAAACG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AACCTTCGAGGGCTATTCCCCA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GCCCATTCGACCTTTCAGCTAC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AATCTACTATCTTCTTAGGGCGA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ACCTTCCGGATTCGGAGATTCC			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CCACCTTACTGACTATCTCGAGC			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AACACACCAACTTGCGGGGGC			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ACCATCTCAGACGCGGAGCGC			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CCCCGAGGCGGGGACTTTTCC			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TTTCGGCGGGAGGCGGCGGC			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ACCTTACGGCGAGGGGGCACC			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Agentomics</a:t>
            </a:r>
            <a:endParaRPr/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1068" l="1488" r="0" t="0"/>
          <a:stretch/>
        </p:blipFill>
        <p:spPr>
          <a:xfrm>
            <a:off x="3086730" y="1260300"/>
            <a:ext cx="2167475" cy="33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200" y="1358275"/>
            <a:ext cx="2482521" cy="3174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5254200" y="3310175"/>
            <a:ext cx="234600" cy="119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5975" lIns="75975" spcFirstLastPara="1" rIns="75975" wrap="square" tIns="7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254200" y="1297988"/>
            <a:ext cx="32100" cy="177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5975" lIns="75975" spcFirstLastPara="1" rIns="75975" wrap="square" tIns="7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3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24" y="690575"/>
            <a:ext cx="1581850" cy="243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9"/>
          <p:cNvCxnSpPr/>
          <p:nvPr/>
        </p:nvCxnSpPr>
        <p:spPr>
          <a:xfrm>
            <a:off x="3990025" y="3128425"/>
            <a:ext cx="3600" cy="36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0" name="Google Shape;220;p29"/>
          <p:cNvSpPr txBox="1"/>
          <p:nvPr>
            <p:ph type="title"/>
          </p:nvPr>
        </p:nvSpPr>
        <p:spPr>
          <a:xfrm>
            <a:off x="205850" y="1569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Iterative refinement process</a:t>
            </a:r>
            <a:endParaRPr/>
          </a:p>
        </p:txBody>
      </p:sp>
      <p:cxnSp>
        <p:nvCxnSpPr>
          <p:cNvPr id="221" name="Google Shape;221;p29"/>
          <p:cNvCxnSpPr/>
          <p:nvPr/>
        </p:nvCxnSpPr>
        <p:spPr>
          <a:xfrm>
            <a:off x="4974025" y="3128425"/>
            <a:ext cx="3600" cy="36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2" name="Google Shape;222;p29"/>
          <p:cNvSpPr txBox="1"/>
          <p:nvPr/>
        </p:nvSpPr>
        <p:spPr>
          <a:xfrm>
            <a:off x="3907875" y="4437000"/>
            <a:ext cx="1228200" cy="607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Roboto"/>
                <a:ea typeface="Roboto"/>
                <a:cs typeface="Roboto"/>
                <a:sym typeface="Roboto"/>
              </a:rPr>
              <a:t>Experiment Design LLM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2999750" y="1570600"/>
            <a:ext cx="908169" cy="3163424"/>
          </a:xfrm>
          <a:custGeom>
            <a:rect b="b" l="l" r="r" t="t"/>
            <a:pathLst>
              <a:path extrusionOk="0" h="125945" w="37516">
                <a:moveTo>
                  <a:pt x="37516" y="125945"/>
                </a:moveTo>
                <a:lnTo>
                  <a:pt x="595" y="125945"/>
                </a:lnTo>
                <a:lnTo>
                  <a:pt x="0" y="596"/>
                </a:lnTo>
                <a:lnTo>
                  <a:pt x="29179" y="0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sp>
      <p:cxnSp>
        <p:nvCxnSpPr>
          <p:cNvPr id="224" name="Google Shape;224;p29"/>
          <p:cNvCxnSpPr/>
          <p:nvPr/>
        </p:nvCxnSpPr>
        <p:spPr>
          <a:xfrm>
            <a:off x="4926188" y="4137300"/>
            <a:ext cx="1500" cy="26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" name="Google Shape;225;p29"/>
          <p:cNvCxnSpPr/>
          <p:nvPr/>
        </p:nvCxnSpPr>
        <p:spPr>
          <a:xfrm>
            <a:off x="4069788" y="4155075"/>
            <a:ext cx="1500" cy="26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6" name="Google Shape;226;p29"/>
          <p:cNvSpPr/>
          <p:nvPr/>
        </p:nvSpPr>
        <p:spPr>
          <a:xfrm rot="5400000">
            <a:off x="3517652" y="1488687"/>
            <a:ext cx="186000" cy="1638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8513" y="3743700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6588" y="3547275"/>
            <a:ext cx="1091040" cy="6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2200" y="3547275"/>
            <a:ext cx="1047099" cy="59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/>
        </p:nvSpPr>
        <p:spPr>
          <a:xfrm>
            <a:off x="3218713" y="3423000"/>
            <a:ext cx="75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"/>
                <a:ea typeface="Roboto"/>
                <a:cs typeface="Roboto"/>
                <a:sym typeface="Roboto"/>
              </a:rPr>
              <a:t>Model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0" l="0" r="0" t="31201"/>
          <a:stretch/>
        </p:blipFill>
        <p:spPr>
          <a:xfrm>
            <a:off x="2171434" y="1750701"/>
            <a:ext cx="1254373" cy="13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>
            <p:ph type="title"/>
          </p:nvPr>
        </p:nvSpPr>
        <p:spPr>
          <a:xfrm>
            <a:off x="205850" y="1569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Evaluation &amp; Selection</a:t>
            </a:r>
            <a:endParaRPr/>
          </a:p>
        </p:txBody>
      </p:sp>
      <p:pic>
        <p:nvPicPr>
          <p:cNvPr id="238" name="Google Shape;238;p30"/>
          <p:cNvPicPr preferRelativeResize="0"/>
          <p:nvPr/>
        </p:nvPicPr>
        <p:blipFill rotWithShape="1">
          <a:blip r:embed="rId3">
            <a:alphaModFix/>
          </a:blip>
          <a:srcRect b="0" l="0" r="0" t="31201"/>
          <a:stretch/>
        </p:blipFill>
        <p:spPr>
          <a:xfrm>
            <a:off x="3973708" y="1750701"/>
            <a:ext cx="1254373" cy="13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2171434" y="1156033"/>
            <a:ext cx="14619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175" lIns="152175" spcFirstLastPara="1" rIns="152175" wrap="square" tIns="15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Iteration 1</a:t>
            </a:r>
            <a:endParaRPr b="1" sz="183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3924152" y="1156033"/>
            <a:ext cx="14619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175" lIns="152175" spcFirstLastPara="1" rIns="152175" wrap="square" tIns="15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Iteration 2</a:t>
            </a:r>
            <a:endParaRPr b="1" sz="183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" name="Google Shape;241;p30"/>
          <p:cNvPicPr preferRelativeResize="0"/>
          <p:nvPr/>
        </p:nvPicPr>
        <p:blipFill rotWithShape="1">
          <a:blip r:embed="rId3">
            <a:alphaModFix/>
          </a:blip>
          <a:srcRect b="0" l="0" r="0" t="31201"/>
          <a:stretch/>
        </p:blipFill>
        <p:spPr>
          <a:xfrm>
            <a:off x="5986562" y="1750701"/>
            <a:ext cx="1254373" cy="13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0"/>
          <p:cNvSpPr txBox="1"/>
          <p:nvPr/>
        </p:nvSpPr>
        <p:spPr>
          <a:xfrm>
            <a:off x="5937006" y="1156033"/>
            <a:ext cx="14619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175" lIns="152175" spcFirstLastPara="1" rIns="152175" wrap="square" tIns="15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Iteration N</a:t>
            </a:r>
            <a:endParaRPr b="1" sz="183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30"/>
          <p:cNvCxnSpPr/>
          <p:nvPr/>
        </p:nvCxnSpPr>
        <p:spPr>
          <a:xfrm flipH="1" rot="10800000">
            <a:off x="5309987" y="2409650"/>
            <a:ext cx="594600" cy="12300"/>
          </a:xfrm>
          <a:prstGeom prst="straightConnector1">
            <a:avLst/>
          </a:prstGeom>
          <a:noFill/>
          <a:ln cap="flat" cmpd="sng" w="634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44" name="Google Shape;244;p30"/>
          <p:cNvSpPr/>
          <p:nvPr/>
        </p:nvSpPr>
        <p:spPr>
          <a:xfrm>
            <a:off x="1605300" y="1119750"/>
            <a:ext cx="5933400" cy="2669100"/>
          </a:xfrm>
          <a:prstGeom prst="rect">
            <a:avLst/>
          </a:prstGeom>
          <a:noFill/>
          <a:ln cap="flat" cmpd="sng" w="15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175" lIns="152175" spcFirstLastPara="1" rIns="152175" wrap="square" tIns="15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4">
            <a:alphaModFix/>
          </a:blip>
          <a:srcRect b="6534" l="62821" r="7312" t="28707"/>
          <a:stretch/>
        </p:blipFill>
        <p:spPr>
          <a:xfrm>
            <a:off x="2290268" y="3080717"/>
            <a:ext cx="492346" cy="594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 rotWithShape="1">
          <a:blip r:embed="rId4">
            <a:alphaModFix/>
          </a:blip>
          <a:srcRect b="6534" l="62821" r="7312" t="28707"/>
          <a:stretch/>
        </p:blipFill>
        <p:spPr>
          <a:xfrm>
            <a:off x="4041821" y="3080717"/>
            <a:ext cx="492346" cy="594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 rotWithShape="1">
          <a:blip r:embed="rId4">
            <a:alphaModFix/>
          </a:blip>
          <a:srcRect b="6534" l="62821" r="7312" t="28707"/>
          <a:stretch/>
        </p:blipFill>
        <p:spPr>
          <a:xfrm>
            <a:off x="6058171" y="3080717"/>
            <a:ext cx="492346" cy="594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50" y="1389750"/>
            <a:ext cx="915250" cy="9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143" y="2518300"/>
            <a:ext cx="753675" cy="7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286650" y="2161000"/>
            <a:ext cx="87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Train Set</a:t>
            </a:r>
            <a:endParaRPr b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286650" y="3250225"/>
            <a:ext cx="75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Test set</a:t>
            </a:r>
            <a:endParaRPr b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2" name="Google Shape;252;p30"/>
          <p:cNvCxnSpPr>
            <a:endCxn id="253" idx="1"/>
          </p:cNvCxnSpPr>
          <p:nvPr/>
        </p:nvCxnSpPr>
        <p:spPr>
          <a:xfrm>
            <a:off x="1076100" y="1844819"/>
            <a:ext cx="656400" cy="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pic>
        <p:nvPicPr>
          <p:cNvPr id="253" name="Google Shape;25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2500" y="1615024"/>
            <a:ext cx="469791" cy="4697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/>
        </p:nvSpPr>
        <p:spPr>
          <a:xfrm>
            <a:off x="3425800" y="724500"/>
            <a:ext cx="188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Agent environment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4650" y="688536"/>
            <a:ext cx="492350" cy="35621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/>
        </p:nvSpPr>
        <p:spPr>
          <a:xfrm>
            <a:off x="2754925" y="3250225"/>
            <a:ext cx="87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0.82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4534175" y="3250225"/>
            <a:ext cx="87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0.89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0"/>
          <p:cNvSpPr txBox="1"/>
          <p:nvPr/>
        </p:nvSpPr>
        <p:spPr>
          <a:xfrm>
            <a:off x="6520500" y="3250225"/>
            <a:ext cx="878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0.87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 04 - Machine Learning Agent</a:t>
            </a:r>
            <a:endParaRPr/>
          </a:p>
        </p:txBody>
      </p:sp>
      <p:sp>
        <p:nvSpPr>
          <p:cNvPr id="264" name="Google Shape;2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the VT6 chat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Check the chat for the link to the notebook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Check the chat for an API key and copy it into OPENROUTER_API_KEY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304225" y="1718825"/>
            <a:ext cx="3114900" cy="22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Proceedings talk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Wednesday</a:t>
            </a:r>
            <a:r>
              <a:rPr lang="en-GB"/>
              <a:t> </a:t>
            </a:r>
            <a:br>
              <a:rPr lang="en-GB"/>
            </a:br>
            <a:r>
              <a:rPr lang="en-GB"/>
              <a:t>11:20-11:40</a:t>
            </a:r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368675"/>
            <a:ext cx="7814550" cy="10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00" y="3050225"/>
            <a:ext cx="2192981" cy="146247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 txBox="1"/>
          <p:nvPr>
            <p:ph idx="1" type="body"/>
          </p:nvPr>
        </p:nvSpPr>
        <p:spPr>
          <a:xfrm>
            <a:off x="3202650" y="1718825"/>
            <a:ext cx="33177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Poster C-127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Wednesday</a:t>
            </a:r>
            <a:br>
              <a:rPr lang="en-GB"/>
            </a:br>
            <a:r>
              <a:rPr lang="en-GB"/>
              <a:t>10:00-11:00 + 16:00-16:40</a:t>
            </a:r>
            <a:endParaRPr/>
          </a:p>
        </p:txBody>
      </p:sp>
      <p:pic>
        <p:nvPicPr>
          <p:cNvPr id="273" name="Google Shape;27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7327" y="2967173"/>
            <a:ext cx="1244661" cy="16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4725" y="2575962"/>
            <a:ext cx="1345575" cy="134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 Logo" id="275" name="Google Shape;275;p32"/>
          <p:cNvPicPr preferRelativeResize="0"/>
          <p:nvPr/>
        </p:nvPicPr>
        <p:blipFill rotWithShape="1">
          <a:blip r:embed="rId7">
            <a:alphaModFix/>
          </a:blip>
          <a:srcRect b="0" l="-4147" r="-5551" t="0"/>
          <a:stretch/>
        </p:blipFill>
        <p:spPr>
          <a:xfrm>
            <a:off x="6629012" y="1896750"/>
            <a:ext cx="1577000" cy="7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2"/>
          <p:cNvSpPr txBox="1"/>
          <p:nvPr/>
        </p:nvSpPr>
        <p:spPr>
          <a:xfrm>
            <a:off x="6459375" y="4493600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bit.ly/DCTUTORIAL</a:t>
            </a:r>
            <a:endParaRPr/>
          </a:p>
        </p:txBody>
      </p:sp>
      <p:sp>
        <p:nvSpPr>
          <p:cNvPr id="277" name="Google Shape;277;p32"/>
          <p:cNvSpPr txBox="1"/>
          <p:nvPr>
            <p:ph idx="1" type="body"/>
          </p:nvPr>
        </p:nvSpPr>
        <p:spPr>
          <a:xfrm>
            <a:off x="6674713" y="1718825"/>
            <a:ext cx="16797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Agentomics</a:t>
            </a:r>
            <a:endParaRPr/>
          </a:p>
        </p:txBody>
      </p:sp>
      <p:sp>
        <p:nvSpPr>
          <p:cNvPr id="278" name="Google Shape;278;p32"/>
          <p:cNvSpPr txBox="1"/>
          <p:nvPr>
            <p:ph idx="1" type="body"/>
          </p:nvPr>
        </p:nvSpPr>
        <p:spPr>
          <a:xfrm>
            <a:off x="6920163" y="4136000"/>
            <a:ext cx="16797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/>
              <a:t>Tutorial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33" title="Tutorial Survey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